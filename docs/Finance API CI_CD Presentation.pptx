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Lato Light"/>
      <p:regular r:id="rId23"/>
      <p:bold r:id="rId24"/>
      <p:italic r:id="rId25"/>
      <p:boldItalic r:id="rId26"/>
    </p:embeddedFont>
    <p:embeddedFont>
      <p:font typeface="Poppins Medium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LatoLight-bold.fntdata"/><Relationship Id="rId23" Type="http://schemas.openxmlformats.org/officeDocument/2006/relationships/font" Target="fonts/Lato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Light-boldItalic.fntdata"/><Relationship Id="rId25" Type="http://schemas.openxmlformats.org/officeDocument/2006/relationships/font" Target="fonts/LatoLight-italic.fntdata"/><Relationship Id="rId28" Type="http://schemas.openxmlformats.org/officeDocument/2006/relationships/font" Target="fonts/PoppinsMedium-bold.fntdata"/><Relationship Id="rId27" Type="http://schemas.openxmlformats.org/officeDocument/2006/relationships/font" Target="fonts/Poppins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regular.fntdata"/><Relationship Id="rId30" Type="http://schemas.openxmlformats.org/officeDocument/2006/relationships/font" Target="fonts/Poppins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5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PoppinsSemiBold-boldItalic.fntdata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19" Type="http://schemas.openxmlformats.org/officeDocument/2006/relationships/font" Target="fonts/Lato-regular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20.png"/><Relationship Id="rId7" Type="http://schemas.openxmlformats.org/officeDocument/2006/relationships/image" Target="../media/image14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11" Type="http://schemas.openxmlformats.org/officeDocument/2006/relationships/image" Target="../media/image28.png"/><Relationship Id="rId10" Type="http://schemas.openxmlformats.org/officeDocument/2006/relationships/image" Target="../media/image29.png"/><Relationship Id="rId12" Type="http://schemas.openxmlformats.org/officeDocument/2006/relationships/image" Target="../media/image30.png"/><Relationship Id="rId9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3587" y="3895725"/>
            <a:ext cx="8124825" cy="44380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830466" y="2518469"/>
            <a:ext cx="8531066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Finance API: CI/CD &amp; Configuração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33587" y="3209925"/>
            <a:ext cx="812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 Light"/>
                <a:ea typeface="Lato Light"/>
                <a:cs typeface="Lato Light"/>
                <a:sym typeface="Lato Light"/>
              </a:rPr>
              <a:t>Trabalho Prático 1 - Gerência de Configuração e Evolução de Software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33587" y="4095750"/>
            <a:ext cx="8124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Grupo de Desenvolvimento &amp; Infraestrutura DevOps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E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509986"/>
            <a:ext cx="5133975" cy="2628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09986"/>
            <a:ext cx="5133975" cy="262860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114425" y="2852886"/>
            <a:ext cx="46705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é a API?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1114425" y="3281511"/>
            <a:ext cx="44481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14425" y="3433911"/>
            <a:ext cx="44481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Uma API REST moderna e altamente robusta desenvolvida em Python com o framework FastAPI.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114425" y="4064347"/>
            <a:ext cx="44481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Focada no controle de finanças pessoais, provê operações completas para gerenciamento de contas, transações, usuários e relatórios consolidados.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29400" y="2852886"/>
            <a:ext cx="46705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Arquitetura &amp; Qualidade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6629400" y="3281511"/>
            <a:ext cx="44481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629400" y="3433911"/>
            <a:ext cx="44481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Estrutura modular rigorosamente organizada em múltiplas camadas claras de responsabilidades (Models, Services, Routers e Repositories).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29400" y="4308127"/>
            <a:ext cx="44481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Equipada com uma bateria abrangente de testes automatizados de unidade, integração e aceitação funcional ponta a ponta.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14400" y="581025"/>
            <a:ext cx="110313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Projeto: Finance API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771525" y="581025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E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762125" y="2634704"/>
            <a:ext cx="909637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Branching Model Simplificado: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Uso estrito do fluxo Git. A branch principal (main) é protegida e reservada exclusivamente para o código estável de produção.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762125" y="3430934"/>
            <a:ext cx="9096375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Trabalho Colaborativo: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Desenvolvimento de novas funcionalidades realizado isoladamente em branches de ciclo de vida curto (feature/nome-da-feature).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762125" y="4227165"/>
            <a:ext cx="909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Integração Protegida: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Mesclagem permitida apenas por Pull Requests, exigindo validação bem-sucedida obrigatória de testes do pipeline antes do merge.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668041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46427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26050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14400" y="581025"/>
            <a:ext cx="110313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Plano de Gerência (GCS)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771525" y="581025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E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300537"/>
            <a:ext cx="2342703" cy="1129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40174" y="2599729"/>
            <a:ext cx="2342703" cy="1129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8824" y="4300537"/>
            <a:ext cx="2342703" cy="1129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7473" y="2599729"/>
            <a:ext cx="2342703" cy="112930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/>
          <p:nvPr/>
        </p:nvSpPr>
        <p:spPr>
          <a:xfrm>
            <a:off x="771525" y="3995737"/>
            <a:ext cx="10648950" cy="38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872977" y="4452937"/>
            <a:ext cx="213979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1. Controle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23925" y="4757737"/>
            <a:ext cx="2037903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Código unificado e versionado no GitHub que dispara gatilhos automáticos de CI.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3641627" y="2752129"/>
            <a:ext cx="213979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2. Testes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3692574" y="3056929"/>
            <a:ext cx="2037903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Semaphore CI executa testes de unidade, integração e aceitação funcional com cache veloz.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410276" y="4452937"/>
            <a:ext cx="213979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3. Build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461224" y="4757737"/>
            <a:ext cx="2037903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Empacotamento completo em Docker e publicação da imagem no Docker Hub.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178926" y="2752129"/>
            <a:ext cx="213979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4. Deploy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229873" y="3056929"/>
            <a:ext cx="2037903" cy="519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Entrega contínua em nuvem no Render de forma automatizada por Webhook.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14400" y="581025"/>
            <a:ext cx="110313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Arquitetura do Pipeline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771525" y="581025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1847626" y="39195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11E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616276" y="39195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11E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384925" y="39195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11E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10153575" y="3919537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B111E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E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55689"/>
            <a:ext cx="5133975" cy="2337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55689"/>
            <a:ext cx="5133975" cy="233719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1114425" y="2998589"/>
            <a:ext cx="46705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Commit Stage (Rápido)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1114425" y="3427214"/>
            <a:ext cx="44481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1114425" y="3579614"/>
            <a:ext cx="44481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Garante integridade imediata do código antes do deploy: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114425" y="3918644"/>
            <a:ext cx="44481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Build &amp; Dependências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114425" y="4162425"/>
            <a:ext cx="44481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Testes de Unidade nos Services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114425" y="4406205"/>
            <a:ext cx="44481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Testes de Integração nos Endpoints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629400" y="3120479"/>
            <a:ext cx="46705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Acceptance Stage (E2E)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6629400" y="3549104"/>
            <a:ext cx="44481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6629400" y="3701504"/>
            <a:ext cx="44481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Validação final simulando experiência real de usuário: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629400" y="4040534"/>
            <a:ext cx="44481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Testes funcionais completos de ponta a ponta (Criação de Conta ➔ Lançamento de Transações ➔ Verificação de Saldo Final).</a:t>
            </a:r>
            <a:endParaRPr/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425" y="3966269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4425" y="42100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4425" y="445383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914400" y="581025"/>
            <a:ext cx="110313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Fases: Commit e Aceitação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771525" y="581025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E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6286500" y="2910036"/>
            <a:ext cx="539067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Promoção &amp; Implantação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286500" y="3357711"/>
            <a:ext cx="5133975" cy="506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Executada exclusivamente após todas as fases de testes passarem em commits direcionados à branch main.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286500" y="4007197"/>
            <a:ext cx="51339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 Semaphore CI realiza a construção automatizada da imagem Docker utilizando credenciais criptografadas seguras (*Secrets*), publica no Docker Hub com tags do commit/latest e notifica o Render.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914400" y="581025"/>
            <a:ext cx="110313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Etapa de Lançamento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771525" y="581025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275" y="2420300"/>
            <a:ext cx="5918375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E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09800"/>
            <a:ext cx="51816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209800"/>
            <a:ext cx="51816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971550" y="4838700"/>
            <a:ext cx="4781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Semaphore CI Pipeline:</a:t>
            </a: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Fluxo completo e automatizado passando com sucesso em todas as etapas lógicas de qualidade de software.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438900" y="4838700"/>
            <a:ext cx="4781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Ambiente de Produção (Render):</a:t>
            </a: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Finance API ativa de forma segura na nuvem com a documentação do Swagger pública e operacional.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14400" y="581025"/>
            <a:ext cx="110313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Evidências e Validação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771525" y="581025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38875" y="1685725"/>
            <a:ext cx="5181600" cy="2971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450" y="1685725"/>
            <a:ext cx="5340677" cy="29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E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84239"/>
            <a:ext cx="3359050" cy="2680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325" y="2484239"/>
            <a:ext cx="3359199" cy="2680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484239"/>
            <a:ext cx="3359050" cy="2680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277951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1066800" y="3446264"/>
            <a:ext cx="29069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Automação Contínua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1066800" y="3893939"/>
            <a:ext cx="27685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Processos de compilação manuais falham e geram inconsistência. A automação rígida blinda a produção de código instável.</a:t>
            </a:r>
            <a:endParaRPr/>
          </a:p>
        </p:txBody>
      </p:sp>
      <p:pic>
        <p:nvPicPr>
          <p:cNvPr descr="image.png" id="200" name="Google Shape;20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1600" y="277951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4711600" y="3446264"/>
            <a:ext cx="290708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Segurança de Secrets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4711600" y="3893939"/>
            <a:ext cx="2768649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 correta separação de credenciais sensíveis via recursos nativos de Secrets das plataformas de CI garante segurança cibernética de ponta a ponta.</a:t>
            </a:r>
            <a:endParaRPr/>
          </a:p>
        </p:txBody>
      </p:sp>
      <p:pic>
        <p:nvPicPr>
          <p:cNvPr descr="image.png" id="203" name="Google Shape;20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6550" y="2779514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8356550" y="3446264"/>
            <a:ext cx="29069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Padronização Docker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8356550" y="3893939"/>
            <a:ext cx="276850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 uso de contêineres Docker extingue problemas clássicos de disparidade ambiental, assegurando idêntica fidelidade do desenvolvimento ao deploy.</a:t>
            </a:r>
            <a:endParaRPr/>
          </a:p>
        </p:txBody>
      </p:sp>
      <p:pic>
        <p:nvPicPr>
          <p:cNvPr descr="image.png" id="206" name="Google Shape;20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62050" y="2903339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35425" y="290333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51800" y="2903339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914400" y="581025"/>
            <a:ext cx="1103137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Principais Lições Aprendidas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771525" y="581025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1E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2710576" y="2345084"/>
            <a:ext cx="6770846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Obrigado!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2710576" y="3171825"/>
            <a:ext cx="677084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Conclusão &amp; Perguntas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715000" y="391477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2871787" y="4238625"/>
            <a:ext cx="64484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 gerência de configuração eficiente viabiliza ciclos de desenvolvimento ágeis e estáveis.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